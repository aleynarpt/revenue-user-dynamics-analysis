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825500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 b="def" i="def"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lack and white aerial photo of a person standing on top of a dam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4" name="Title Text"/>
          <p:cNvSpPr txBox="1"/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er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/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2" name="Black and white photo of windmills under a cloudy sky"/>
          <p:cNvSpPr/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cap="all" sz="7700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6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e"/>
          <p:cNvSpPr/>
          <p:nvPr/>
        </p:nvSpPr>
        <p:spPr>
          <a:xfrm flipV="1">
            <a:off x="761999" y="2391649"/>
            <a:ext cx="22860000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xfrm>
            <a:off x="761999" y="1434954"/>
            <a:ext cx="22860001" cy="1016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92" name="Black and white photo of windmills under a cloudy sky"/>
          <p:cNvSpPr/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3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4" name="Body Level One…"/>
          <p:cNvSpPr txBox="1"/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03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4" name="Body Level One…"/>
          <p:cNvSpPr txBox="1"/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13" name="Title Text"/>
          <p:cNvSpPr txBox="1"/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4" name="Body Level One…"/>
          <p:cNvSpPr txBox="1"/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"/>
          <p:cNvSpPr txBox="1"/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Black and white photo of a solar panel"/>
          <p:cNvSpPr/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2" name="Black and white photo of water flowing over the spillway gates of a dam"/>
          <p:cNvSpPr/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3" name="Black and white photo of windmills under a cloudy sky"/>
          <p:cNvSpPr/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allout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142" name="Type a quote here."/>
          <p:cNvSpPr txBox="1"/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43" name="Johnny Appleseed"/>
          <p:cNvSpPr txBox="1"/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44" name="Text"/>
          <p:cNvSpPr txBox="1"/>
          <p:nvPr>
            <p:ph type="body" sz="quarter" idx="2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pc="180"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r>
              <a:t>Text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Al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ype a quote here."/>
          <p:cNvSpPr txBox="1"/>
          <p:nvPr>
            <p:ph type="body" sz="quarter" idx="2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cap="all" sz="134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Type a quote here.</a:t>
            </a:r>
          </a:p>
        </p:txBody>
      </p:sp>
      <p:sp>
        <p:nvSpPr>
          <p:cNvPr id="153" name="Black and white photo of windmills under a cloudy sky"/>
          <p:cNvSpPr/>
          <p:nvPr>
            <p:ph type="pic" idx="22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4" name="Johnny Appleseed"/>
          <p:cNvSpPr txBox="1"/>
          <p:nvPr>
            <p:ph type="body" sz="quarter" idx="2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Johnny Appleseed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lack and white aerial photo of a person standing on top of a dam"/>
          <p:cNvSpPr/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8700" u="none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b="0" baseline="0" cap="none" i="0" spc="0" strike="noStrike" sz="4800" u="none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lic.tableau.com/app/profile/aleyna.rapata/viz/RevenueUserDynamicsDashboard_17746562233280/Dashboard1?publish=yes" TargetMode="External"/><Relationship Id="rId3" Type="http://schemas.openxmlformats.org/officeDocument/2006/relationships/hyperlink" Target="https://drive.google.com/file/d/1DWCkv6ssIy6wZ74kikfH7MX3vlwCwRN_/view?usp=share_link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elİr ve kullancı dİnamİklerİ analİzİ"/>
          <p:cNvSpPr txBox="1"/>
          <p:nvPr>
            <p:ph type="ctrTitle"/>
          </p:nvPr>
        </p:nvSpPr>
        <p:spPr>
          <a:xfrm>
            <a:off x="526064" y="6710106"/>
            <a:ext cx="23331872" cy="2730228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>
            <a:lvl1pPr defTabSz="387984">
              <a:defRPr sz="14241"/>
            </a:lvl1pPr>
          </a:lstStyle>
          <a:p>
            <a:pPr/>
            <a:r>
              <a:t>Gelİr ve kullancı dİnamİklerİ analİzİ</a:t>
            </a:r>
          </a:p>
        </p:txBody>
      </p:sp>
      <p:sp>
        <p:nvSpPr>
          <p:cNvPr id="187" name="Aleyna rapata                                                                              01.04.2026"/>
          <p:cNvSpPr txBox="1"/>
          <p:nvPr>
            <p:ph type="subTitle" sz="quarter" idx="1"/>
          </p:nvPr>
        </p:nvSpPr>
        <p:spPr>
          <a:xfrm>
            <a:off x="762000" y="10915977"/>
            <a:ext cx="23331871" cy="2540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>
            <a:lvl1pPr>
              <a:defRPr sz="5900"/>
            </a:lvl1pPr>
          </a:lstStyle>
          <a:p>
            <a:pPr/>
            <a:r>
              <a:t>Aleyna rapata                                                                              01.04.2026</a:t>
            </a:r>
          </a:p>
        </p:txBody>
      </p:sp>
      <p:sp>
        <p:nvSpPr>
          <p:cNvPr id="188" name="GoIT Data Analyst - Final Projesi Sunumu"/>
          <p:cNvSpPr txBox="1"/>
          <p:nvPr/>
        </p:nvSpPr>
        <p:spPr>
          <a:xfrm>
            <a:off x="6478371" y="9061869"/>
            <a:ext cx="11427258" cy="939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GoIT Data Analyst - Final Projesi Sunumu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roje amacı"/>
          <p:cNvSpPr txBox="1"/>
          <p:nvPr>
            <p:ph type="title"/>
          </p:nvPr>
        </p:nvSpPr>
        <p:spPr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Proje amacı</a:t>
            </a:r>
          </a:p>
        </p:txBody>
      </p:sp>
      <p:sp>
        <p:nvSpPr>
          <p:cNvPr id="191" name="Gelir değişimlerini anlamak…"/>
          <p:cNvSpPr txBox="1"/>
          <p:nvPr>
            <p:ph type="body" idx="1"/>
          </p:nvPr>
        </p:nvSpPr>
        <p:spPr>
          <a:xfrm>
            <a:off x="762000" y="3183466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Gelir değişimlerini anlamak</a:t>
            </a:r>
          </a:p>
          <a:p>
            <a:pPr/>
            <a:r>
              <a:t>Kullanıcı davranışlarını analiz etmek</a:t>
            </a:r>
          </a:p>
          <a:p>
            <a:pPr/>
            <a:r>
              <a:t>Büyümenin sürdürülebilirliğini değerlendirmek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roblem Tanımı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Problem Tanımı</a:t>
            </a:r>
          </a:p>
        </p:txBody>
      </p:sp>
      <p:sp>
        <p:nvSpPr>
          <p:cNvPr id="194" name="Bu projede aşağıdaki temel sorulara odaklanılmıştır:…"/>
          <p:cNvSpPr txBox="1"/>
          <p:nvPr>
            <p:ph type="body" idx="1"/>
          </p:nvPr>
        </p:nvSpPr>
        <p:spPr>
          <a:xfrm>
            <a:off x="761999" y="3183466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Bu projede aşağıdaki temel sorulara odaklanılmıştır: </a:t>
            </a:r>
          </a:p>
          <a:p>
            <a:pPr lvl="1"/>
            <a:r>
              <a:t>MRR’daki değişimleri hangi faktörler belirliyor?</a:t>
            </a:r>
          </a:p>
          <a:p>
            <a:pPr lvl="1"/>
            <a:r>
              <a:t>Gözlemlenen büyüme sürdürülebilir mi?</a:t>
            </a:r>
          </a:p>
          <a:p>
            <a:pPr lvl="1"/>
            <a:r>
              <a:t>Kullanıcı kazanımı ve churn performansı nasıl etkiliyor? </a:t>
            </a:r>
          </a:p>
          <a:p>
            <a:pPr lvl="1"/>
            <a:r>
              <a:t>LTV nasıl değişiyor?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Yaklaşım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Yaklaşım</a:t>
            </a:r>
          </a:p>
        </p:txBody>
      </p:sp>
      <p:sp>
        <p:nvSpPr>
          <p:cNvPr id="197" name="SQL ile veri hazırlama…"/>
          <p:cNvSpPr txBox="1"/>
          <p:nvPr>
            <p:ph type="body" idx="1"/>
          </p:nvPr>
        </p:nvSpPr>
        <p:spPr>
          <a:xfrm>
            <a:off x="762000" y="3183466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SQL ile veri hazırlama</a:t>
            </a:r>
          </a:p>
          <a:p>
            <a:pPr/>
            <a:r>
              <a:t>Kullanıcı segmentasyonu</a:t>
            </a:r>
          </a:p>
          <a:p>
            <a:pPr/>
            <a:r>
              <a:t>Tableau dashboard</a:t>
            </a:r>
          </a:p>
        </p:txBody>
      </p:sp>
      <p:pic>
        <p:nvPicPr>
          <p:cNvPr id="198" name="Screenshot 2026-03-31 at 23.53.18.png" descr="Screenshot 2026-03-31 at 23.53.18.png"/>
          <p:cNvPicPr>
            <a:picLocks noChangeAspect="1"/>
          </p:cNvPicPr>
          <p:nvPr/>
        </p:nvPicPr>
        <p:blipFill>
          <a:blip r:embed="rId2">
            <a:extLst/>
          </a:blip>
          <a:srcRect l="0" t="0" r="6830" b="0"/>
          <a:stretch>
            <a:fillRect/>
          </a:stretch>
        </p:blipFill>
        <p:spPr>
          <a:xfrm>
            <a:off x="18432336" y="10382845"/>
            <a:ext cx="2396517" cy="2500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Screenshot 2026-03-31 at 23.53.28.png" descr="Screenshot 2026-03-31 at 23.53.28.png"/>
          <p:cNvPicPr>
            <a:picLocks noChangeAspect="1"/>
          </p:cNvPicPr>
          <p:nvPr/>
        </p:nvPicPr>
        <p:blipFill>
          <a:blip r:embed="rId3">
            <a:extLst/>
          </a:blip>
          <a:srcRect l="9864" t="6060" r="9864" b="6060"/>
          <a:stretch>
            <a:fillRect/>
          </a:stretch>
        </p:blipFill>
        <p:spPr>
          <a:xfrm>
            <a:off x="21179234" y="10382845"/>
            <a:ext cx="2349371" cy="25006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Verİ &amp; metodolojİ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Verİ &amp; metodolojİ</a:t>
            </a:r>
          </a:p>
        </p:txBody>
      </p:sp>
      <p:sp>
        <p:nvSpPr>
          <p:cNvPr id="202" name="games_payments…"/>
          <p:cNvSpPr txBox="1"/>
          <p:nvPr>
            <p:ph type="body" sz="quarter" idx="1"/>
          </p:nvPr>
        </p:nvSpPr>
        <p:spPr>
          <a:xfrm>
            <a:off x="762000" y="4290852"/>
            <a:ext cx="22860001" cy="2200076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marL="609600" indent="-609600" defTabSz="792479">
              <a:spcBef>
                <a:spcPts val="3700"/>
              </a:spcBef>
              <a:defRPr sz="4608"/>
            </a:pPr>
            <a:r>
              <a:t>games_payments</a:t>
            </a:r>
          </a:p>
          <a:p>
            <a:pPr marL="609600" indent="-609600" defTabSz="792479">
              <a:spcBef>
                <a:spcPts val="3700"/>
              </a:spcBef>
              <a:defRPr sz="4608"/>
            </a:pPr>
            <a:r>
              <a:t>games_paid_users</a:t>
            </a:r>
          </a:p>
        </p:txBody>
      </p:sp>
      <p:sp>
        <p:nvSpPr>
          <p:cNvPr id="203" name="Veri"/>
          <p:cNvSpPr txBox="1"/>
          <p:nvPr/>
        </p:nvSpPr>
        <p:spPr>
          <a:xfrm>
            <a:off x="758756" y="3180983"/>
            <a:ext cx="1337565" cy="111760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80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Veri</a:t>
            </a:r>
          </a:p>
        </p:txBody>
      </p:sp>
      <p:sp>
        <p:nvSpPr>
          <p:cNvPr id="204" name="Metodoloji"/>
          <p:cNvSpPr txBox="1"/>
          <p:nvPr/>
        </p:nvSpPr>
        <p:spPr>
          <a:xfrm>
            <a:off x="760086" y="6643240"/>
            <a:ext cx="3352293" cy="111760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80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pPr/>
            <a:r>
              <a:t>Metodoloji</a:t>
            </a:r>
          </a:p>
        </p:txBody>
      </p:sp>
      <p:sp>
        <p:nvSpPr>
          <p:cNvPr id="205" name="Monthly aggregation…"/>
          <p:cNvSpPr txBox="1"/>
          <p:nvPr/>
        </p:nvSpPr>
        <p:spPr>
          <a:xfrm>
            <a:off x="762000" y="7913157"/>
            <a:ext cx="22860001" cy="384435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35000" indent="-635000">
              <a:buClr>
                <a:schemeClr val="accent1"/>
              </a:buClr>
              <a:buSzPct val="104999"/>
              <a:buFont typeface="Avenir Next Regular"/>
              <a:buChar char="▸"/>
            </a:pPr>
            <a:r>
              <a:t>Monthly aggregation</a:t>
            </a:r>
          </a:p>
          <a:p>
            <a:pPr marL="635000" indent="-635000">
              <a:buClr>
                <a:schemeClr val="accent1"/>
              </a:buClr>
              <a:buSzPct val="104999"/>
              <a:buFont typeface="Avenir Next Regular"/>
              <a:buChar char="▸"/>
            </a:pPr>
            <a:r>
              <a:t>LAG/LEAD</a:t>
            </a:r>
          </a:p>
          <a:p>
            <a:pPr marL="635000" indent="-635000">
              <a:buClr>
                <a:schemeClr val="accent1"/>
              </a:buClr>
              <a:buSzPct val="104999"/>
              <a:buFont typeface="Avenir Next Regular"/>
              <a:buChar char="▸"/>
            </a:pPr>
            <a:r>
              <a:t>User classification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DASHBOARD OVERVİEW ve dashboard kullanım perspektİFİ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DASHBOARD OVERVİEW ve dashboard kullanım perspektİFİ</a:t>
            </a:r>
          </a:p>
        </p:txBody>
      </p:sp>
      <p:pic>
        <p:nvPicPr>
          <p:cNvPr id="208" name="Screenshot 2026-03-30 at 17.35.54.png" descr="Screenshot 2026-03-30 at 17.35.5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4454" y="2557061"/>
            <a:ext cx="15574486" cy="1089353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sp>
        <p:nvSpPr>
          <p:cNvPr id="209" name="Performans değişimlerinin nedeni analiz edilebilir.…"/>
          <p:cNvSpPr txBox="1"/>
          <p:nvPr>
            <p:ph type="body" sz="half" idx="1"/>
          </p:nvPr>
        </p:nvSpPr>
        <p:spPr>
          <a:xfrm>
            <a:off x="16749037" y="2576202"/>
            <a:ext cx="7099410" cy="1046359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marL="590550" indent="-590550" defTabSz="767715">
              <a:spcBef>
                <a:spcPts val="3600"/>
              </a:spcBef>
              <a:defRPr sz="4464"/>
            </a:pPr>
            <a:r>
              <a:t>Performans değişimlerinin nedeni analiz edilebilir.</a:t>
            </a:r>
          </a:p>
          <a:p>
            <a:pPr marL="590550" indent="-590550" defTabSz="767715">
              <a:spcBef>
                <a:spcPts val="3600"/>
              </a:spcBef>
              <a:defRPr sz="4464"/>
            </a:pPr>
            <a:r>
              <a:t>Gelir değişimi bileşen bazında incelenebilir.</a:t>
            </a:r>
          </a:p>
          <a:p>
            <a:pPr marL="590550" indent="-590550" defTabSz="767715">
              <a:spcBef>
                <a:spcPts val="3600"/>
              </a:spcBef>
              <a:defRPr sz="4464"/>
            </a:pPr>
            <a:r>
              <a:t>Kullanıcı kazanımı ve churn dengesi takip edilebilir.</a:t>
            </a:r>
          </a:p>
          <a:p>
            <a:pPr marL="590550" indent="-590550" defTabSz="767715">
              <a:spcBef>
                <a:spcPts val="3600"/>
              </a:spcBef>
              <a:defRPr sz="4464"/>
            </a:pPr>
            <a:r>
              <a:t>Kullanıcı başına elde gelir ve retention birlikte değerlendirilebilir.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Yüzeysel bakış: Başarılı bir büyüme ilüzyonu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Yüzeysel bakış: Başarılı bir büyüme ilüzyonu</a:t>
            </a:r>
          </a:p>
        </p:txBody>
      </p:sp>
      <p:sp>
        <p:nvSpPr>
          <p:cNvPr id="212" name="MRR Trendi…"/>
          <p:cNvSpPr txBox="1"/>
          <p:nvPr>
            <p:ph type="body" sz="quarter" idx="1"/>
          </p:nvPr>
        </p:nvSpPr>
        <p:spPr>
          <a:xfrm>
            <a:off x="957377" y="8329290"/>
            <a:ext cx="10409608" cy="2434685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>
            <a:lvl1pPr marL="387350" indent="-387350" defTabSz="503555">
              <a:spcBef>
                <a:spcPts val="2300"/>
              </a:spcBef>
              <a:defRPr sz="2928"/>
            </a:lvl1pPr>
            <a:lvl2pPr marL="774700" indent="-387350" defTabSz="503555">
              <a:spcBef>
                <a:spcPts val="2300"/>
              </a:spcBef>
              <a:defRPr sz="2928"/>
            </a:lvl2pPr>
          </a:lstStyle>
          <a:p>
            <a:pPr/>
            <a:r>
              <a:t>MRR Trendi</a:t>
            </a:r>
          </a:p>
          <a:p>
            <a:pPr lvl="1"/>
            <a:r>
              <a:t>Analiz döneminin başından Ekim ayına kadar güçlü, kesintisiz bir artış. Platform başarılı bir şekilde gelir üretiyor.</a:t>
            </a:r>
          </a:p>
        </p:txBody>
      </p:sp>
      <p:sp>
        <p:nvSpPr>
          <p:cNvPr id="213" name="Paid Users Trend…"/>
          <p:cNvSpPr txBox="1"/>
          <p:nvPr/>
        </p:nvSpPr>
        <p:spPr>
          <a:xfrm>
            <a:off x="13340885" y="8327432"/>
            <a:ext cx="10414001" cy="24384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387350" indent="-387350" defTabSz="503555">
              <a:spcBef>
                <a:spcPts val="23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sz="2928"/>
            </a:lvl1pPr>
            <a:lvl2pPr marL="774700" indent="-387350" defTabSz="503555">
              <a:spcBef>
                <a:spcPts val="2300"/>
              </a:spcBef>
              <a:buClr>
                <a:schemeClr val="accent1"/>
              </a:buClr>
              <a:buSzPct val="104999"/>
              <a:buFont typeface="Avenir Next Regular"/>
              <a:buChar char="▸"/>
              <a:defRPr sz="2928"/>
            </a:lvl2pPr>
          </a:lstStyle>
          <a:p>
            <a:pPr/>
            <a:r>
              <a:t>Paid Users Trend</a:t>
            </a:r>
          </a:p>
          <a:p>
            <a:pPr lvl="1"/>
            <a:r>
              <a:t>Ücretli kullanıcı sayısında düzenli artış. Kullanıcı kazanım (Acquisition) stratejilerinin kağıt üzerinde kusursuz çalıştığının kanıtı.</a:t>
            </a:r>
          </a:p>
        </p:txBody>
      </p:sp>
      <p:sp>
        <p:nvSpPr>
          <p:cNvPr id="214" name="Zirve noktası aşıldıktan sonra başlayan yatay seyir ve hafif düşüş, bu büyümenin sürdürülebilir olmadığına işaret ediyor."/>
          <p:cNvSpPr txBox="1"/>
          <p:nvPr/>
        </p:nvSpPr>
        <p:spPr>
          <a:xfrm>
            <a:off x="762000" y="10983105"/>
            <a:ext cx="22860000" cy="226208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35000" indent="-635000">
              <a:buClr>
                <a:schemeClr val="accent1"/>
              </a:buClr>
              <a:buSzPct val="104999"/>
              <a:buFont typeface="Avenir Next Regular"/>
              <a:buChar char="▸"/>
            </a:lvl1pPr>
          </a:lstStyle>
          <a:p>
            <a:pPr/>
            <a:r>
              <a:t>Zirve noktası aşıldıktan sonra başlayan yatay seyir ve hafif düşüş, bu büyümenin sürdürülebilir olmadığına işaret ediyor.</a:t>
            </a:r>
          </a:p>
        </p:txBody>
      </p:sp>
      <p:sp>
        <p:nvSpPr>
          <p:cNvPr id="215" name="Line"/>
          <p:cNvSpPr/>
          <p:nvPr/>
        </p:nvSpPr>
        <p:spPr>
          <a:xfrm>
            <a:off x="762000" y="10961960"/>
            <a:ext cx="228600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pic>
        <p:nvPicPr>
          <p:cNvPr id="216" name="Screenshot 2026-03-30 at 17.35.03.png" descr="Screenshot 2026-03-30 at 17.35.03.png"/>
          <p:cNvPicPr>
            <a:picLocks noChangeAspect="1"/>
          </p:cNvPicPr>
          <p:nvPr/>
        </p:nvPicPr>
        <p:blipFill>
          <a:blip r:embed="rId2">
            <a:extLst/>
          </a:blip>
          <a:srcRect l="0" t="0" r="15037" b="0"/>
          <a:stretch>
            <a:fillRect/>
          </a:stretch>
        </p:blipFill>
        <p:spPr>
          <a:xfrm>
            <a:off x="2829895" y="2623804"/>
            <a:ext cx="6664572" cy="548657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pic>
        <p:nvPicPr>
          <p:cNvPr id="217" name="Screenshot 2026-03-30 at 17.35.10.png" descr="Screenshot 2026-03-30 at 17.35.1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92881" y="2623804"/>
            <a:ext cx="7910009" cy="553263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ELİRİN ANATOMİSİ: KIRMızı alanın büyümesi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GELİRİN ANATOMİSİ: KIRMızı alanın büyümesi</a:t>
            </a:r>
          </a:p>
        </p:txBody>
      </p:sp>
      <p:pic>
        <p:nvPicPr>
          <p:cNvPr id="220" name="Screenshot 2026-03-30 at 17.35.18.png" descr="Screenshot 2026-03-30 at 17.35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6764" y="3272870"/>
            <a:ext cx="11493501" cy="8039101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Net Etki Çizgisi"/>
          <p:cNvSpPr txBox="1"/>
          <p:nvPr/>
        </p:nvSpPr>
        <p:spPr>
          <a:xfrm>
            <a:off x="2273902" y="4723022"/>
            <a:ext cx="511768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222222"/>
                </a:solidFill>
              </a:defRPr>
            </a:lvl1pPr>
          </a:lstStyle>
          <a:p>
            <a:pPr/>
            <a:r>
              <a:t>Net Etki Çizgisi</a:t>
            </a:r>
          </a:p>
        </p:txBody>
      </p:sp>
      <p:sp>
        <p:nvSpPr>
          <p:cNvPr id="222" name="Search"/>
          <p:cNvSpPr/>
          <p:nvPr/>
        </p:nvSpPr>
        <p:spPr>
          <a:xfrm>
            <a:off x="9088462" y="7171945"/>
            <a:ext cx="2288032" cy="26816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fill="norm" stroke="1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3" name="Line"/>
          <p:cNvSpPr/>
          <p:nvPr/>
        </p:nvSpPr>
        <p:spPr>
          <a:xfrm>
            <a:off x="2530144" y="6330637"/>
            <a:ext cx="7405084" cy="18585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048"/>
                </a:moveTo>
                <a:lnTo>
                  <a:pt x="2540" y="2134"/>
                </a:lnTo>
                <a:lnTo>
                  <a:pt x="4852" y="3838"/>
                </a:lnTo>
                <a:lnTo>
                  <a:pt x="9591" y="0"/>
                </a:lnTo>
                <a:lnTo>
                  <a:pt x="14230" y="4559"/>
                </a:lnTo>
                <a:lnTo>
                  <a:pt x="16658" y="126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4" name="Line"/>
          <p:cNvSpPr/>
          <p:nvPr/>
        </p:nvSpPr>
        <p:spPr>
          <a:xfrm>
            <a:off x="10912237" y="3502825"/>
            <a:ext cx="3103918" cy="4750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398"/>
                </a:moveTo>
                <a:lnTo>
                  <a:pt x="14978" y="21600"/>
                </a:lnTo>
                <a:lnTo>
                  <a:pt x="14550" y="0"/>
                </a:lnTo>
                <a:lnTo>
                  <a:pt x="21600" y="94"/>
                </a:lnTo>
              </a:path>
            </a:pathLst>
          </a:custGeom>
          <a:ln w="88900">
            <a:solidFill>
              <a:schemeClr val="accent1"/>
            </a:solidFill>
            <a:prstDash val="sysDot"/>
            <a:miter lim="400000"/>
            <a:headEnd type="arrow"/>
            <a:tailEnd type="arrow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25" name="Pozitif Güçler: Yeni katılanlar ve harcamasını artıranlar (expansion) geliri yukarı taşıyor.…"/>
          <p:cNvSpPr txBox="1"/>
          <p:nvPr>
            <p:ph type="body" sz="half" idx="1"/>
          </p:nvPr>
        </p:nvSpPr>
        <p:spPr>
          <a:xfrm>
            <a:off x="14372987" y="2762870"/>
            <a:ext cx="9249013" cy="10664005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>
              <a:defRPr sz="4100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Pozitif Güçler:</a:t>
            </a:r>
            <a:r>
              <a:t> Yeni katılanlar ve harcamasını artıranlar (expansion) geliri yukarı taşıyor.</a:t>
            </a:r>
          </a:p>
          <a:p>
            <a:pPr>
              <a:defRPr sz="4100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Negatif Güçler:</a:t>
            </a:r>
            <a:r>
              <a:t> Başlangıçta tolere edilebilir olan Churn ve Contraction, zamanla artıyor.</a:t>
            </a:r>
          </a:p>
          <a:p>
            <a:pPr>
              <a:defRPr sz="4100"/>
            </a:pP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Kritik Kırılma:</a:t>
            </a:r>
            <a:r>
              <a:t> Dönem sonunda churn kaynaklı negatif etkiler, yeni gelen tüm geliri nötralize edecek boyuta ulaşıyor. Sürdürülebilir büyüme için büyük risk.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Kullanıcı kaybı: net negatİf büyümeye geçİş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Kullanıcı kaybı: net negatİf büyümeye geçİş</a:t>
            </a:r>
          </a:p>
        </p:txBody>
      </p:sp>
      <p:sp>
        <p:nvSpPr>
          <p:cNvPr id="228" name="Yeni kullanıcı kazanımı aylar boyunca sabit bir hızda devam ediyor.…"/>
          <p:cNvSpPr txBox="1"/>
          <p:nvPr>
            <p:ph type="body" sz="half" idx="1"/>
          </p:nvPr>
        </p:nvSpPr>
        <p:spPr>
          <a:xfrm>
            <a:off x="12561212" y="3254146"/>
            <a:ext cx="11153181" cy="7608889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marL="622300" indent="-622300" defTabSz="808990">
              <a:spcBef>
                <a:spcPts val="3800"/>
              </a:spcBef>
              <a:defRPr sz="4704"/>
            </a:pPr>
            <a:r>
              <a:t>Yeni kullanıcı kazanımı aylar boyunca sabit bir hızda devam ediyor.</a:t>
            </a:r>
          </a:p>
          <a:p>
            <a:pPr marL="622300" indent="-622300" defTabSz="808990">
              <a:spcBef>
                <a:spcPts val="3800"/>
              </a:spcBef>
              <a:defRPr sz="4704"/>
            </a:pPr>
            <a:r>
              <a:t>Ancak ödemeyi bırakan kullanıcı sayısı ciddi bir şekilde artış gösteriyor.</a:t>
            </a:r>
          </a:p>
          <a:p>
            <a:pPr marL="622300" indent="-622300" defTabSz="808990">
              <a:spcBef>
                <a:spcPts val="3800"/>
              </a:spcBef>
              <a:defRPr sz="4704"/>
            </a:pPr>
            <a:r>
              <a:t>Kullanıcı kazanımında (acquisition) sorun yok, kullanıcı tutmada (retention) yapısal bir çöküş var.</a:t>
            </a:r>
          </a:p>
        </p:txBody>
      </p:sp>
      <p:pic>
        <p:nvPicPr>
          <p:cNvPr id="229" name="Screenshot 2026-03-30 at 17.35.23.png" descr="Screenshot 2026-03-30 at 17.35.23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9513"/>
          <a:stretch>
            <a:fillRect/>
          </a:stretch>
        </p:blipFill>
        <p:spPr>
          <a:xfrm>
            <a:off x="308229" y="3284024"/>
            <a:ext cx="12022433" cy="760907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</p:pic>
      <p:sp>
        <p:nvSpPr>
          <p:cNvPr id="230" name="[Yeni Gelenler] &lt; [Terk Edenler] = Negatif Net Büyüme"/>
          <p:cNvSpPr txBox="1"/>
          <p:nvPr/>
        </p:nvSpPr>
        <p:spPr>
          <a:xfrm>
            <a:off x="326913" y="11154774"/>
            <a:ext cx="11985168" cy="749301"/>
          </a:xfrm>
          <a:prstGeom prst="rect">
            <a:avLst/>
          </a:prstGeom>
          <a:ln w="25400">
            <a:solidFill>
              <a:srgbClr val="C3C3C3"/>
            </a:solidFill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3600"/>
            </a:pPr>
            <a:r>
              <a:rPr>
                <a:solidFill>
                  <a:schemeClr val="accent3">
                    <a:hueOff val="1279411"/>
                    <a:satOff val="-9468"/>
                    <a:lumOff val="-15294"/>
                  </a:schemeClr>
                </a:solidFill>
              </a:rPr>
              <a:t>[Yeni Gelenler]</a:t>
            </a:r>
            <a:r>
              <a:t> &lt; </a:t>
            </a:r>
            <a:r>
              <a:rPr>
                <a:solidFill>
                  <a:schemeClr val="accent5">
                    <a:hueOff val="-180946"/>
                    <a:satOff val="-2351"/>
                    <a:lumOff val="-8716"/>
                  </a:schemeClr>
                </a:solidFill>
              </a:rPr>
              <a:t>[Terk Edenler]</a:t>
            </a:r>
            <a:r>
              <a:t> = </a:t>
            </a:r>
            <a:r>
              <a:rPr>
                <a:solidFill>
                  <a:schemeClr val="accent5">
                    <a:hueOff val="-180946"/>
                    <a:satOff val="-2351"/>
                    <a:lumOff val="-8716"/>
                  </a:schemeClr>
                </a:solidFill>
              </a:rPr>
              <a:t>Negatif</a:t>
            </a:r>
            <a:r>
              <a:t> Net Büyüme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VERİMLİLİK paradoksu: ARPPU vs. CHURN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VERİMLİLİK paradoksu: ARPPU vs. CHURN</a:t>
            </a:r>
          </a:p>
        </p:txBody>
      </p:sp>
      <p:sp>
        <p:nvSpPr>
          <p:cNvPr id="233" name="Kalan kullanıcılar daha fazla harcıyor. Gelir elde etme verimliliği artıyor (ARPPU)…"/>
          <p:cNvSpPr txBox="1"/>
          <p:nvPr>
            <p:ph type="body" sz="half" idx="1"/>
          </p:nvPr>
        </p:nvSpPr>
        <p:spPr>
          <a:xfrm>
            <a:off x="13802638" y="3135002"/>
            <a:ext cx="10025966" cy="9232286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Kalan kullanıcılar daha fazla harcıyor. Gelir elde etme verimliliği artıyor (ARPPU)</a:t>
            </a:r>
          </a:p>
          <a:p>
            <a:pPr/>
            <a:r>
              <a:t>Ancak kullanıcılar platformu çok daha hızlı terk ediyor. (Churn)</a:t>
            </a:r>
          </a:p>
          <a:p>
            <a:pPr/>
            <a:r>
              <a:t>Paradoks: Kullanıcı başına gelir artarken kaybedilen kullanıcıların yarattığı boşluk, bu artışla telafi edilemez boyuta ulaşıyor.</a:t>
            </a:r>
          </a:p>
        </p:txBody>
      </p:sp>
      <p:pic>
        <p:nvPicPr>
          <p:cNvPr id="234" name="Screenshot 2026-03-30 at 17.35.28.png" descr="Screenshot 2026-03-30 at 17.35.2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0725" y="3393913"/>
            <a:ext cx="12621631" cy="88281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LT ve gelİr uçurumu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LT ve gelİr uçurumu</a:t>
            </a:r>
          </a:p>
        </p:txBody>
      </p:sp>
      <p:sp>
        <p:nvSpPr>
          <p:cNvPr id="237" name="Maksimum LT = 6 Ay: Kullanıcılar platformda orta seviye bir süre kalıyor, ancak bu süre uzun vadeli değeri (LTV) maksimize etmek için yetersiz.…"/>
          <p:cNvSpPr txBox="1"/>
          <p:nvPr>
            <p:ph type="body" sz="half" idx="1"/>
          </p:nvPr>
        </p:nvSpPr>
        <p:spPr>
          <a:xfrm>
            <a:off x="13802638" y="3135002"/>
            <a:ext cx="10025966" cy="9232286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marL="552450" indent="-552450" defTabSz="718184">
              <a:spcBef>
                <a:spcPts val="3300"/>
              </a:spcBef>
              <a:defRPr sz="4176"/>
            </a:pPr>
            <a:r>
              <a:t>Maksimum LT = 6 Ay: Kullanıcılar platformda orta seviye bir süre kalıyor, ancak bu süre uzun vadeli değeri (LTV) maksimize etmek için yetersiz.</a:t>
            </a:r>
          </a:p>
          <a:p>
            <a:pPr marL="552450" indent="-552450" defTabSz="718184">
              <a:spcBef>
                <a:spcPts val="3300"/>
              </a:spcBef>
              <a:defRPr sz="4176"/>
            </a:pPr>
            <a:r>
              <a:t>Erken Ayrılış: Churn arttıkça LTV düşüşe geçiyor. Kullanıcılar, en yüksek değeri üretebilecekleri noktaya gelmeden platformdan ayrılıyor.</a:t>
            </a:r>
          </a:p>
          <a:p>
            <a:pPr marL="552450" indent="-552450" defTabSz="718184">
              <a:spcBef>
                <a:spcPts val="3300"/>
              </a:spcBef>
              <a:defRPr sz="4176"/>
            </a:pPr>
            <a:r>
              <a:t>Çözüm yolu: Müşteri yaşam süresinin 1-2 ay bile uzatılması, LTV üzerinde anlamlı bir artış sağlayacaktır.</a:t>
            </a:r>
          </a:p>
        </p:txBody>
      </p:sp>
      <p:pic>
        <p:nvPicPr>
          <p:cNvPr id="238" name="Screenshot 2026-03-30 at 17.35.33.png" descr="Screenshot 2026-03-30 at 17.35.3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510" y="3120628"/>
            <a:ext cx="12637412" cy="8839206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Line"/>
          <p:cNvSpPr/>
          <p:nvPr/>
        </p:nvSpPr>
        <p:spPr>
          <a:xfrm flipV="1">
            <a:off x="7992533" y="3735128"/>
            <a:ext cx="1" cy="7610206"/>
          </a:xfrm>
          <a:prstGeom prst="line">
            <a:avLst/>
          </a:prstGeom>
          <a:ln w="25400">
            <a:solidFill>
              <a:schemeClr val="accent5">
                <a:hueOff val="-180946"/>
                <a:satOff val="-2351"/>
                <a:lumOff val="-8716"/>
              </a:schemeClr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pic>
        <p:nvPicPr>
          <p:cNvPr id="240" name="Ortalama yaşam süresi: 6 ay Ortalama yaşam süresi: 6 ay" descr="Ortalama yaşam süresi: 6 ay Ortalama yaşam süresi: 6 ay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43782" y="7994649"/>
            <a:ext cx="2297503" cy="355601"/>
          </a:xfrm>
          <a:prstGeom prst="rect">
            <a:avLst/>
          </a:prstGeom>
        </p:spPr>
      </p:pic>
      <p:sp>
        <p:nvSpPr>
          <p:cNvPr id="241" name="Shape"/>
          <p:cNvSpPr/>
          <p:nvPr/>
        </p:nvSpPr>
        <p:spPr>
          <a:xfrm>
            <a:off x="8035389" y="4018066"/>
            <a:ext cx="4739035" cy="2196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534" y="21600"/>
                </a:moveTo>
                <a:lnTo>
                  <a:pt x="16234" y="15350"/>
                </a:lnTo>
                <a:lnTo>
                  <a:pt x="10755" y="6844"/>
                </a:lnTo>
                <a:lnTo>
                  <a:pt x="5524" y="693"/>
                </a:lnTo>
                <a:lnTo>
                  <a:pt x="0" y="0"/>
                </a:lnTo>
                <a:lnTo>
                  <a:pt x="21600" y="246"/>
                </a:lnTo>
                <a:lnTo>
                  <a:pt x="21534" y="21600"/>
                </a:lnTo>
                <a:close/>
              </a:path>
            </a:pathLst>
          </a:custGeom>
          <a:solidFill>
            <a:schemeClr val="accent5">
              <a:alpha val="5165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pic>
        <p:nvPicPr>
          <p:cNvPr id="242" name="Kaybedilen Potansiyel Kaybedilen Potansiyel" descr="Kaybedilen Potansiyel Kaybedilen Potansiyel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13048" y="4204546"/>
            <a:ext cx="1856376" cy="355601"/>
          </a:xfrm>
          <a:prstGeom prst="rect">
            <a:avLst/>
          </a:prstGeom>
        </p:spPr>
      </p:pic>
      <p:sp>
        <p:nvSpPr>
          <p:cNvPr id="243" name="Line"/>
          <p:cNvSpPr/>
          <p:nvPr/>
        </p:nvSpPr>
        <p:spPr>
          <a:xfrm flipH="1">
            <a:off x="11523133" y="4494543"/>
            <a:ext cx="536840" cy="881791"/>
          </a:xfrm>
          <a:prstGeom prst="line">
            <a:avLst/>
          </a:prstGeom>
          <a:ln w="25400">
            <a:solidFill>
              <a:srgbClr val="626262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tratejİk İçgörüler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Stratejİk İçgörüler</a:t>
            </a:r>
          </a:p>
        </p:txBody>
      </p:sp>
      <p:sp>
        <p:nvSpPr>
          <p:cNvPr id="246" name="Gelir artışı zamanla yavaşlamaktadır.…"/>
          <p:cNvSpPr txBox="1"/>
          <p:nvPr>
            <p:ph type="body" idx="1"/>
          </p:nvPr>
        </p:nvSpPr>
        <p:spPr>
          <a:xfrm>
            <a:off x="761999" y="3052916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Gelir artışı zamanla yavaşlamaktadır.</a:t>
            </a:r>
          </a:p>
          <a:p>
            <a:pPr/>
            <a:r>
              <a:t>Churn giderek artmakta ve baskın hale gelmektedir.</a:t>
            </a:r>
          </a:p>
          <a:p>
            <a:pPr/>
            <a:r>
              <a:t>Kullanıcı tutma performansı zayıflamaktadır.</a:t>
            </a:r>
          </a:p>
          <a:p>
            <a:pPr/>
            <a:r>
              <a:t>Kullanıcı başına elde edilen gelir artmasına rağmen sürdürülebilir değildir.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İş etkİlerİ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İş etkİlerİ</a:t>
            </a:r>
          </a:p>
        </p:txBody>
      </p:sp>
      <p:sp>
        <p:nvSpPr>
          <p:cNvPr id="249" name="Mevcut büyüme sürdürülebilir değildir.…"/>
          <p:cNvSpPr txBox="1"/>
          <p:nvPr>
            <p:ph type="body" idx="1"/>
          </p:nvPr>
        </p:nvSpPr>
        <p:spPr>
          <a:xfrm>
            <a:off x="761999" y="3196954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Mevcut büyüme sürdürülebilir değildir.</a:t>
            </a:r>
          </a:p>
          <a:p>
            <a:pPr/>
            <a:r>
              <a:t>Artan churn uzun vadeli geliri azaltmaktadır.</a:t>
            </a:r>
          </a:p>
          <a:p>
            <a:pPr/>
            <a:r>
              <a:t>Düşük kullanıcı ömrü LTV’yi sınırlandırmaktadır. </a:t>
            </a:r>
          </a:p>
          <a:p>
            <a:pPr/>
            <a:r>
              <a:t>Sadece kullanıcı kazanımı yeterli değildir.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Önerİler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Önerİler</a:t>
            </a:r>
          </a:p>
        </p:txBody>
      </p:sp>
      <p:sp>
        <p:nvSpPr>
          <p:cNvPr id="252" name="Kullanıcı tutma stratejilerine öncelik verilmelidir.…"/>
          <p:cNvSpPr txBox="1"/>
          <p:nvPr>
            <p:ph type="body" idx="1"/>
          </p:nvPr>
        </p:nvSpPr>
        <p:spPr>
          <a:xfrm>
            <a:off x="761999" y="3185295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Kullanıcı tutma stratejilerine öncelik verilmelidir.</a:t>
            </a:r>
          </a:p>
          <a:p>
            <a:pPr/>
            <a:r>
              <a:t>Churn’ü azaltmaya yönelik aksiyonlar alınmalıdır.</a:t>
            </a:r>
          </a:p>
          <a:p>
            <a:pPr/>
            <a:r>
              <a:t>Kaybedilen kullanıcılar yeniden kazanılmalıdır.</a:t>
            </a:r>
          </a:p>
          <a:p>
            <a:pPr/>
            <a:r>
              <a:t>Yüksek değerli kullanıcı segmentlerine odaklanılmalıdır.</a:t>
            </a:r>
          </a:p>
          <a:p>
            <a:pPr/>
            <a:r>
              <a:t>Büyüme stratejisi dengelenmelidir.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ONUÇ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SONUÇ</a:t>
            </a:r>
          </a:p>
        </p:txBody>
      </p:sp>
      <p:sp>
        <p:nvSpPr>
          <p:cNvPr id="255" name="Güçlü bir başlangıç büyümesi gözlemlenmiştir.…"/>
          <p:cNvSpPr txBox="1"/>
          <p:nvPr>
            <p:ph type="body" idx="1"/>
          </p:nvPr>
        </p:nvSpPr>
        <p:spPr>
          <a:xfrm>
            <a:off x="761999" y="3214461"/>
            <a:ext cx="22860001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t>Güçlü bir başlangıç büyümesi gözlemlenmiştir.</a:t>
            </a:r>
          </a:p>
          <a:p>
            <a:pPr/>
            <a:r>
              <a:t>Ancak artan churn sürdürülebilirliği tehdit etmektedir.</a:t>
            </a:r>
          </a:p>
          <a:p>
            <a:pPr/>
            <a:r>
              <a:t>Uzun vadeli başarı için retention kritik rol oynamaktadır.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EKLER"/>
          <p:cNvSpPr txBox="1"/>
          <p:nvPr>
            <p:ph type="title"/>
          </p:nvPr>
        </p:nvSpPr>
        <p:spPr>
          <a:xfrm>
            <a:off x="762000" y="1434953"/>
            <a:ext cx="22860000" cy="10160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1" defTabSz="685165">
              <a:spcBef>
                <a:spcPts val="3200"/>
              </a:spcBef>
              <a:defRPr sz="7221"/>
            </a:pPr>
            <a:r>
              <a:t>EKLER</a:t>
            </a:r>
          </a:p>
        </p:txBody>
      </p:sp>
      <p:sp>
        <p:nvSpPr>
          <p:cNvPr id="258" name="Tableau Dashboard 🔎…"/>
          <p:cNvSpPr txBox="1"/>
          <p:nvPr>
            <p:ph type="body" idx="1"/>
          </p:nvPr>
        </p:nvSpPr>
        <p:spPr>
          <a:xfrm>
            <a:off x="762000" y="3214461"/>
            <a:ext cx="22860000" cy="85852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/>
            <a:r>
              <a:rPr u="sng">
                <a:solidFill>
                  <a:schemeClr val="accent1"/>
                </a:solidFill>
                <a:hlinkClick r:id="rId2" invalidUrl="" action="" tgtFrame="" tooltip="" history="1" highlightClick="0" endSnd="0"/>
              </a:rPr>
              <a:t>Tableau Dashboard 🔎</a:t>
            </a:r>
          </a:p>
          <a:p>
            <a:pPr/>
            <a:r>
              <a:rPr u="sng">
                <a:solidFill>
                  <a:schemeClr val="accent1"/>
                </a:solidFill>
                <a:hlinkClick r:id="rId3" invalidUrl="" action="" tgtFrame="" tooltip="" history="1" highlightClick="0" endSnd="0"/>
              </a:rPr>
              <a:t>SQL 🔎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ounded Rectangle"/>
          <p:cNvSpPr/>
          <p:nvPr/>
        </p:nvSpPr>
        <p:spPr>
          <a:xfrm>
            <a:off x="2846586" y="5957060"/>
            <a:ext cx="18690828" cy="1801880"/>
          </a:xfrm>
          <a:prstGeom prst="roundRect">
            <a:avLst>
              <a:gd name="adj" fmla="val 15000"/>
            </a:avLst>
          </a:prstGeom>
          <a:solidFill>
            <a:schemeClr val="accent1">
              <a:hueOff val="104794"/>
              <a:lumOff val="-843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cap="all" sz="4000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</a:p>
        </p:txBody>
      </p:sp>
      <p:sp>
        <p:nvSpPr>
          <p:cNvPr id="261" name="Beni dinlediğiniz için teşekkür ederim!"/>
          <p:cNvSpPr txBox="1"/>
          <p:nvPr/>
        </p:nvSpPr>
        <p:spPr>
          <a:xfrm>
            <a:off x="7063015" y="6388099"/>
            <a:ext cx="10828021" cy="939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222222"/>
                </a:solidFill>
              </a:defRPr>
            </a:lvl1pPr>
          </a:lstStyle>
          <a:p>
            <a:pPr/>
            <a:r>
              <a:t>Beni dinlediğiniz için teşekkür ederim!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